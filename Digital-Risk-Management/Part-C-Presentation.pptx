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  <p:sldId id="261" r:id="rId6"/>
    <p:sldId id="260" r:id="rId7"/>
    <p:sldId id="259" r:id="rId8"/>
    <p:sldId id="262" r:id="rId9"/>
    <p:sldId id="25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76B909-7F07-8CAD-FEB7-D8C4BA2B3A44}" v="44" dt="2025-09-08T09:35:27.503"/>
    <p1510:client id="{50972348-B832-DB8F-91EC-07992EAEFE28}" v="2" dt="2025-09-08T09:22:21.949"/>
    <p1510:client id="{5D26A64A-76E4-541E-F1CE-83FAF689A3EE}" v="25" dt="2025-09-08T09:46:00.127"/>
    <p1510:client id="{7AF22F99-EEA9-9C15-48D5-C45413B89847}" v="25" dt="2025-09-08T09:46:27.622"/>
    <p1510:client id="{BE51FABA-ED0F-1A79-E0D7-C98680F2335D}" v="1" dt="2025-09-08T09:19:26.473"/>
    <p1510:client id="{CD1841BD-7754-F866-8997-D43F8189F485}" v="43" dt="2025-09-08T09:46:27.434"/>
    <p1510:client id="{F07B539C-7362-0269-9E49-2829EE7E58CD}" v="22" dt="2025-09-08T09:38:20.0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965A7A7B-B71A-428D-833F-0F3507A6DB13}" type="datetimeFigureOut">
              <a:rPr lang="en-US" dirty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7190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5CF65307-640F-4AE7-B0BE-50C709AD86C5}" type="datetimeFigureOut">
              <a:rPr lang="en-US" dirty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348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EA1F9-1F0F-4C65-8F6E-9729B924AAAC}" type="datetimeFigureOut">
              <a:rPr lang="en-US" dirty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147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202278E8-5F4B-47D5-A617-8CCDF75D6A33}" type="datetimeFigureOut">
              <a:rPr lang="en-US" dirty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14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16AAFA52-7A21-407F-8339-40DF182D7460}" type="datetimeFigureOut">
              <a:rPr lang="en-US" dirty="0"/>
              <a:t>9/8/2025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048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70335-1C1A-4243-9BDD-9630C417D284}" type="datetimeFigureOut">
              <a:rPr lang="en-US" dirty="0"/>
              <a:t>9/8/2025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324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1513F-8EBD-4612-96F4-CC3E309609AF}" type="datetimeFigureOut">
              <a:rPr lang="en-US" dirty="0"/>
              <a:t>9/8/2025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910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6E6483A1-31A8-47A2-AB0A-53A7803D5EBF}" type="datetimeFigureOut">
              <a:rPr lang="en-US" dirty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324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6D8810B9-2C7C-4CAF-99E2-617AE20BA331}" type="datetimeFigureOut">
              <a:rPr lang="en-US" dirty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508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8F9EB-9D34-4B41-B66C-5FAF50876D2D}" type="datetimeFigureOut">
              <a:rPr lang="en-US" dirty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103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89A26-CAA1-4690-8C1F-1641B1B97745}" type="datetimeFigureOut">
              <a:rPr lang="en-US" dirty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388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93E0A-5177-400C-87C9-C93AF466EC49}" type="datetimeFigureOut">
              <a:rPr lang="en-US" dirty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17615-2DB4-4DAA-9DE3-B2B689A846E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267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EE8D9-8F09-8587-BF79-AD7C02AD11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/>
              <a:t>Assessment 1: Part C</a:t>
            </a:r>
          </a:p>
        </p:txBody>
      </p:sp>
    </p:spTree>
    <p:extLst>
      <p:ext uri="{BB962C8B-B14F-4D97-AF65-F5344CB8AC3E}">
        <p14:creationId xmlns:p14="http://schemas.microsoft.com/office/powerpoint/2010/main" val="3563451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CB36C-8A21-9D1D-33D1-27BB4825D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3600"/>
              <a:t>Equifax Data Breach – 2017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784BC-EBFC-4EFA-C370-3D5B412C6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097" y="1716024"/>
            <a:ext cx="10168128" cy="369417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600">
                <a:ea typeface="+mn-lt"/>
                <a:cs typeface="+mn-lt"/>
              </a:rPr>
              <a:t>Key Points:</a:t>
            </a:r>
            <a:endParaRPr lang="en-US" sz="2600"/>
          </a:p>
          <a:p>
            <a:r>
              <a:rPr lang="en-US" sz="1700">
                <a:ea typeface="+mn-lt"/>
                <a:cs typeface="+mn-lt"/>
              </a:rPr>
              <a:t>One of the </a:t>
            </a:r>
            <a:r>
              <a:rPr lang="en-US" sz="1700" b="1">
                <a:ea typeface="+mn-lt"/>
                <a:cs typeface="+mn-lt"/>
              </a:rPr>
              <a:t>largest cyberattacks in history</a:t>
            </a:r>
            <a:r>
              <a:rPr lang="en-US" sz="1700">
                <a:ea typeface="+mn-lt"/>
                <a:cs typeface="+mn-lt"/>
              </a:rPr>
              <a:t>.</a:t>
            </a:r>
            <a:endParaRPr lang="en-US" sz="1700"/>
          </a:p>
          <a:p>
            <a:r>
              <a:rPr lang="en-US" sz="1700">
                <a:ea typeface="+mn-lt"/>
                <a:cs typeface="+mn-lt"/>
              </a:rPr>
              <a:t>Hackers exploited an </a:t>
            </a:r>
            <a:r>
              <a:rPr lang="en-US" sz="1700" b="1">
                <a:ea typeface="+mn-lt"/>
                <a:cs typeface="+mn-lt"/>
              </a:rPr>
              <a:t>unpatched software vulnerability</a:t>
            </a:r>
            <a:r>
              <a:rPr lang="en-US" sz="1700">
                <a:ea typeface="+mn-lt"/>
                <a:cs typeface="+mn-lt"/>
              </a:rPr>
              <a:t>.</a:t>
            </a:r>
            <a:endParaRPr lang="en-US" sz="1700"/>
          </a:p>
          <a:p>
            <a:r>
              <a:rPr lang="en-US" sz="1700" b="1">
                <a:ea typeface="+mn-lt"/>
                <a:cs typeface="+mn-lt"/>
              </a:rPr>
              <a:t>Sensitive data stolen:</a:t>
            </a:r>
            <a:r>
              <a:rPr lang="en-US" sz="1700">
                <a:ea typeface="+mn-lt"/>
                <a:cs typeface="+mn-lt"/>
              </a:rPr>
              <a:t> Social Security numbers, birth dates, driver’s license numbers.</a:t>
            </a:r>
            <a:endParaRPr lang="en-US" sz="1700"/>
          </a:p>
          <a:p>
            <a:r>
              <a:rPr lang="en-US" sz="1700" b="1">
                <a:ea typeface="+mn-lt"/>
                <a:cs typeface="+mn-lt"/>
              </a:rPr>
              <a:t>Impact:</a:t>
            </a:r>
            <a:endParaRPr lang="en-US" sz="1700"/>
          </a:p>
          <a:p>
            <a:r>
              <a:rPr lang="en-US" sz="1400" b="1">
                <a:ea typeface="+mn-lt"/>
                <a:cs typeface="+mn-lt"/>
              </a:rPr>
              <a:t>147 million people affected</a:t>
            </a:r>
            <a:endParaRPr lang="en-US" sz="1400"/>
          </a:p>
          <a:p>
            <a:r>
              <a:rPr lang="en-US" sz="1400" b="1">
                <a:ea typeface="+mn-lt"/>
                <a:cs typeface="+mn-lt"/>
              </a:rPr>
              <a:t>$1.4 billion+ in costs</a:t>
            </a:r>
            <a:endParaRPr lang="en-US" sz="1400"/>
          </a:p>
          <a:p>
            <a:r>
              <a:rPr lang="en-US" sz="1400" b="1">
                <a:ea typeface="+mn-lt"/>
                <a:cs typeface="+mn-lt"/>
              </a:rPr>
              <a:t>$700 million fines</a:t>
            </a:r>
            <a:endParaRPr lang="en-US" sz="1400"/>
          </a:p>
          <a:p>
            <a:r>
              <a:rPr lang="en-US" sz="1400">
                <a:ea typeface="+mn-lt"/>
                <a:cs typeface="+mn-lt"/>
              </a:rPr>
              <a:t>Loss of </a:t>
            </a:r>
            <a:r>
              <a:rPr lang="en-US" sz="1400" b="1">
                <a:ea typeface="+mn-lt"/>
                <a:cs typeface="+mn-lt"/>
              </a:rPr>
              <a:t>customer trust</a:t>
            </a:r>
            <a:endParaRPr lang="en-US" sz="1400"/>
          </a:p>
          <a:p>
            <a:endParaRPr lang="en-US" sz="24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8FC4D-F2DF-CAAF-9EBD-C7604A435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D16D4-4DC3-4869-B2A1-1334F3D69379}" type="datetime1">
              <a:t>9/8/2025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F58FB-3080-0BED-C3D1-CDB2B2AAF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132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D7245-C258-F35B-32A5-538B6E85D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Attack Overview of Equifax 2017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75BBF-633E-AE1A-0F2A-95CF69AE99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 b="1" u="sng"/>
              <a:t>ATTACK </a:t>
            </a:r>
            <a:br>
              <a:rPr lang="en-US"/>
            </a:br>
            <a:r>
              <a:rPr lang="en-US" b="1">
                <a:ea typeface="+mn-lt"/>
                <a:cs typeface="+mn-lt"/>
              </a:rPr>
              <a:t>Vulnerability:</a:t>
            </a:r>
            <a:r>
              <a:rPr lang="en-US">
                <a:ea typeface="+mn-lt"/>
                <a:cs typeface="+mn-lt"/>
              </a:rPr>
              <a:t> Unpatched Apache Struts (CVE-2017-5638) in dispute portal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Initial Access:</a:t>
            </a:r>
            <a:r>
              <a:rPr lang="en-US">
                <a:ea typeface="+mn-lt"/>
                <a:cs typeface="+mn-lt"/>
              </a:rPr>
              <a:t> Malicious web request injected code on portal server</a:t>
            </a:r>
            <a:endParaRPr lang="en-US"/>
          </a:p>
          <a:p>
            <a:r>
              <a:rPr lang="en-US" b="1" u="sng"/>
              <a:t>Business Impact</a:t>
            </a:r>
            <a:endParaRPr lang="en-US"/>
          </a:p>
          <a:p>
            <a:r>
              <a:rPr lang="en-US"/>
              <a:t>Finacial.</a:t>
            </a:r>
          </a:p>
          <a:p>
            <a:r>
              <a:rPr lang="en-US"/>
              <a:t>Regulatory and Legal.</a:t>
            </a:r>
          </a:p>
          <a:p>
            <a:r>
              <a:rPr lang="en-US"/>
              <a:t>Reputational.</a:t>
            </a:r>
          </a:p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04B53A-A73B-D636-3415-40F41E125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AFA38-517B-4089-81F0-F5A2F8C73D29}" type="datetime1"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7A2F57-65D4-BE62-A980-FB2A1E321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70CFF-D171-7A71-489B-64023331C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825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9B6FD-430D-B0CD-FCAE-A67A2F02A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+mj-lt"/>
                <a:cs typeface="+mj-lt"/>
              </a:rPr>
              <a:t>Human Risk: </a:t>
            </a:r>
            <a:r>
              <a:rPr lang="en-GB"/>
              <a:t>Technology Risk</a:t>
            </a:r>
            <a:endParaRPr lang="en-US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5F769-50C7-D1DA-7922-6F1147089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GB" b="1">
                <a:ea typeface="+mn-lt"/>
                <a:cs typeface="+mn-lt"/>
              </a:rPr>
              <a:t>Attack:</a:t>
            </a:r>
            <a:r>
              <a:rPr lang="en-GB">
                <a:ea typeface="+mn-lt"/>
                <a:cs typeface="+mn-lt"/>
              </a:rPr>
              <a:t> Hackers used </a:t>
            </a:r>
            <a:r>
              <a:rPr lang="en-GB" b="1">
                <a:ea typeface="+mn-lt"/>
                <a:cs typeface="+mn-lt"/>
              </a:rPr>
              <a:t>Remote Code Execution (RCE)</a:t>
            </a:r>
            <a:r>
              <a:rPr lang="en-GB">
                <a:ea typeface="+mn-lt"/>
                <a:cs typeface="+mn-lt"/>
              </a:rPr>
              <a:t> to exploit the unpatched Apache Struts vulnerability.</a:t>
            </a:r>
            <a:endParaRPr lang="en-GB"/>
          </a:p>
          <a:p>
            <a:r>
              <a:rPr lang="en-GB" b="1">
                <a:ea typeface="+mn-lt"/>
                <a:cs typeface="+mn-lt"/>
              </a:rPr>
              <a:t>Failure:</a:t>
            </a:r>
            <a:r>
              <a:rPr lang="en-GB">
                <a:ea typeface="+mn-lt"/>
                <a:cs typeface="+mn-lt"/>
              </a:rPr>
              <a:t> Equifax lacked automated patching, encryption, and network segmentation → attackers accessed and exfiltrated unprotected customer data.</a:t>
            </a:r>
            <a:endParaRPr lang="en-GB"/>
          </a:p>
          <a:p>
            <a:r>
              <a:rPr lang="en-GB" b="1">
                <a:ea typeface="+mn-lt"/>
                <a:cs typeface="+mn-lt"/>
              </a:rPr>
              <a:t>Defense Action:</a:t>
            </a:r>
            <a:endParaRPr lang="en-GB"/>
          </a:p>
          <a:p>
            <a:r>
              <a:rPr lang="en-GB">
                <a:ea typeface="+mn-lt"/>
                <a:cs typeface="+mn-lt"/>
              </a:rPr>
              <a:t>Implement </a:t>
            </a:r>
            <a:r>
              <a:rPr lang="en-GB" b="1">
                <a:ea typeface="+mn-lt"/>
                <a:cs typeface="+mn-lt"/>
              </a:rPr>
              <a:t>automated patch management</a:t>
            </a:r>
            <a:r>
              <a:rPr lang="en-GB">
                <a:ea typeface="+mn-lt"/>
                <a:cs typeface="+mn-lt"/>
              </a:rPr>
              <a:t> tools.</a:t>
            </a:r>
            <a:endParaRPr lang="en-GB"/>
          </a:p>
          <a:p>
            <a:r>
              <a:rPr lang="en-GB">
                <a:ea typeface="+mn-lt"/>
                <a:cs typeface="+mn-lt"/>
              </a:rPr>
              <a:t>Deploy </a:t>
            </a:r>
            <a:r>
              <a:rPr lang="en-GB" b="1">
                <a:ea typeface="+mn-lt"/>
                <a:cs typeface="+mn-lt"/>
              </a:rPr>
              <a:t>Web Application Firewalls (WAFs)</a:t>
            </a:r>
            <a:r>
              <a:rPr lang="en-GB">
                <a:ea typeface="+mn-lt"/>
                <a:cs typeface="+mn-lt"/>
              </a:rPr>
              <a:t> to filter malicious requests.</a:t>
            </a:r>
            <a:endParaRPr lang="en-GB"/>
          </a:p>
          <a:p>
            <a:r>
              <a:rPr lang="en-GB">
                <a:ea typeface="+mn-lt"/>
                <a:cs typeface="+mn-lt"/>
              </a:rPr>
              <a:t>Enforce </a:t>
            </a:r>
            <a:r>
              <a:rPr lang="en-GB" b="1">
                <a:ea typeface="+mn-lt"/>
                <a:cs typeface="+mn-lt"/>
              </a:rPr>
              <a:t>encryption at rest and in transit</a:t>
            </a:r>
            <a:r>
              <a:rPr lang="en-GB">
                <a:ea typeface="+mn-lt"/>
                <a:cs typeface="+mn-lt"/>
              </a:rPr>
              <a:t>.</a:t>
            </a:r>
            <a:endParaRPr lang="en-GB"/>
          </a:p>
          <a:p>
            <a:r>
              <a:rPr lang="en-GB">
                <a:ea typeface="+mn-lt"/>
                <a:cs typeface="+mn-lt"/>
              </a:rPr>
              <a:t>Apply </a:t>
            </a:r>
            <a:r>
              <a:rPr lang="en-GB" b="1">
                <a:ea typeface="+mn-lt"/>
                <a:cs typeface="+mn-lt"/>
              </a:rPr>
              <a:t>network segmentation</a:t>
            </a:r>
            <a:r>
              <a:rPr lang="en-GB">
                <a:ea typeface="+mn-lt"/>
                <a:cs typeface="+mn-lt"/>
              </a:rPr>
              <a:t> to limit attacker movement. </a:t>
            </a:r>
            <a:endParaRPr lang="en-GB"/>
          </a:p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1E1EF-E5C2-238D-9030-923718CFB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69AAC-42FA-405F-8904-0EAEBFE6676D}" type="datetime1"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21892-90C7-94D7-CB83-03545A2B3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8303D-596C-B65D-FFF1-000EEF115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094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8992" y="-629472"/>
            <a:ext cx="10177272" cy="2990088"/>
          </a:xfrm>
        </p:spPr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dirty="0"/>
              <a:t>AI-Driven Multi-Layered Defense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1200" y="1873921"/>
            <a:ext cx="10983600" cy="286232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2000" dirty="0">
                <a:ea typeface="+mn-lt"/>
                <a:cs typeface="+mn-lt"/>
              </a:rPr>
              <a:t>Unpatched vulnerabilities, delayed detection, data exfiltration, reputational damage</a:t>
            </a:r>
            <a:endParaRPr lang="en-US" dirty="0"/>
          </a:p>
          <a:p>
            <a:pPr>
              <a:defRPr sz="2000">
                <a:solidFill>
                  <a:srgbClr val="000000"/>
                </a:solidFill>
              </a:defRPr>
            </a:pPr>
            <a:endParaRPr lang="en-US"/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2000" dirty="0">
                <a:ea typeface="+mn-lt"/>
                <a:cs typeface="+mn-lt"/>
              </a:rPr>
              <a:t>Adaptive security awareness, AI chatbots for real-time recommendations</a:t>
            </a:r>
            <a:endParaRPr lang="en-US" dirty="0"/>
          </a:p>
          <a:p>
            <a:pPr>
              <a:defRPr sz="2000">
                <a:solidFill>
                  <a:srgbClr val="000000"/>
                </a:solidFill>
              </a:defRPr>
            </a:pPr>
            <a:endParaRPr lang="en-US"/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2000" dirty="0">
                <a:ea typeface="+mn-lt"/>
                <a:cs typeface="+mn-lt"/>
              </a:rPr>
              <a:t>Auto-patching, AI-driven anomaly detection, encrypted data lakes</a:t>
            </a:r>
            <a:endParaRPr lang="en-US" dirty="0"/>
          </a:p>
          <a:p>
            <a:pPr>
              <a:defRPr sz="2000">
                <a:solidFill>
                  <a:srgbClr val="000000"/>
                </a:solidFill>
              </a:defRPr>
            </a:pPr>
            <a:endParaRPr lang="en-US"/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2000" dirty="0">
                <a:ea typeface="+mn-lt"/>
                <a:cs typeface="+mn-lt"/>
              </a:rPr>
              <a:t>Automated threat triage, predictive risk scoring, transparent reporting</a:t>
            </a:r>
            <a:endParaRPr lang="en-US" dirty="0"/>
          </a:p>
          <a:p>
            <a:pPr>
              <a:defRPr sz="2000">
                <a:solidFill>
                  <a:srgbClr val="000000"/>
                </a:solidFill>
              </a:defRPr>
            </a:pPr>
            <a:endParaRPr lang="en-US"/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2000" dirty="0">
                <a:ea typeface="+mn-lt"/>
                <a:cs typeface="+mn-lt"/>
              </a:rPr>
              <a:t>⚡ Faster discovery | ✅ Reduced human error |  Compliance | Confidence restored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72036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BD5C8-351D-E985-44A6-C27127E13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anchor="ctr">
            <a:normAutofit/>
          </a:bodyPr>
          <a:lstStyle/>
          <a:p>
            <a:r>
              <a:rPr lang="en-GB" sz="3700"/>
              <a:t>Equifax Breach – Post-Incident &amp; Ethical Response</a:t>
            </a:r>
            <a:endParaRPr lang="en-US" sz="37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98333-A312-D93A-7B77-AAF099A954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1300"/>
              <a:t>Post-Incident Actions: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1300"/>
              <a:t>• Transparent disclosure to regulators &amp; customers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1300"/>
              <a:t>• Dedicated response team for containment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1300"/>
              <a:t>• Customer support (credit monitoring)</a:t>
            </a:r>
          </a:p>
          <a:p>
            <a:pPr>
              <a:lnSpc>
                <a:spcPct val="100000"/>
              </a:lnSpc>
            </a:pPr>
            <a:r>
              <a:rPr lang="en-GB" sz="1300"/>
              <a:t>Ethical &amp; Regulatory: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1300"/>
              <a:t>• GDPR &amp; Australian Privacy Act → report breaches promptly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1300"/>
              <a:t>• Transparency and fairness rebuild trust</a:t>
            </a:r>
          </a:p>
          <a:p>
            <a:pPr>
              <a:lnSpc>
                <a:spcPct val="100000"/>
              </a:lnSpc>
            </a:pPr>
            <a:r>
              <a:rPr lang="en-GB" sz="1300" b="1"/>
              <a:t>Visual Cues: Balance = Ethics  </a:t>
            </a:r>
            <a:endParaRPr lang="en-GB" sz="1300"/>
          </a:p>
          <a:p>
            <a:pPr>
              <a:lnSpc>
                <a:spcPct val="100000"/>
              </a:lnSpc>
            </a:pPr>
            <a:r>
              <a:rPr lang="en-GB" sz="1300" b="1"/>
              <a:t>Shield = Compliance </a:t>
            </a:r>
            <a:endParaRPr lang="en-GB" sz="1300"/>
          </a:p>
          <a:p>
            <a:pPr>
              <a:lnSpc>
                <a:spcPct val="100000"/>
              </a:lnSpc>
            </a:pPr>
            <a:r>
              <a:rPr lang="en-GB" sz="1300" b="1"/>
              <a:t> Speech Bubble = Communication</a:t>
            </a:r>
            <a:endParaRPr lang="en-GB" sz="1300"/>
          </a:p>
          <a:p>
            <a:pPr>
              <a:lnSpc>
                <a:spcPct val="100000"/>
              </a:lnSpc>
            </a:pPr>
            <a:endParaRPr lang="en-GB" sz="1300"/>
          </a:p>
        </p:txBody>
      </p:sp>
      <p:pic>
        <p:nvPicPr>
          <p:cNvPr id="4" name="Picture 3" descr="A person standing next to a computer&#10;&#10;AI-generated content may be incorrect.">
            <a:extLst>
              <a:ext uri="{FF2B5EF4-FFF2-40B4-BE49-F238E27FC236}">
                <a16:creationId xmlns:a16="http://schemas.microsoft.com/office/drawing/2014/main" id="{7E1D0CFD-B6FF-3479-1781-5CB598E528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99" r="18115" b="3"/>
          <a:stretch>
            <a:fillRect/>
          </a:stretch>
        </p:blipFill>
        <p:spPr>
          <a:xfrm>
            <a:off x="6345936" y="2478024"/>
            <a:ext cx="4937760" cy="3694176"/>
          </a:xfrm>
          <a:prstGeom prst="rect">
            <a:avLst/>
          </a:prstGeom>
          <a:noFill/>
        </p:spPr>
      </p:pic>
      <p:sp>
        <p:nvSpPr>
          <p:cNvPr id="15" name="Date Placeholder 4">
            <a:extLst>
              <a:ext uri="{FF2B5EF4-FFF2-40B4-BE49-F238E27FC236}">
                <a16:creationId xmlns:a16="http://schemas.microsoft.com/office/drawing/2014/main" id="{E50F556A-AFE8-718F-FFE9-6AE34FC8DA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EE5A3EA-BAB6-4EAB-A297-29D4E37166F4}" type="datetime1">
              <a:rPr lang="en-US"/>
              <a:pPr>
                <a:spcAft>
                  <a:spcPts val="600"/>
                </a:spcAft>
              </a:pPr>
              <a:t>9/8/2025</a:t>
            </a:fld>
            <a:endParaRPr lang="en-US"/>
          </a:p>
        </p:txBody>
      </p:sp>
      <p:sp>
        <p:nvSpPr>
          <p:cNvPr id="22" name="Footer Placeholder 5">
            <a:extLst>
              <a:ext uri="{FF2B5EF4-FFF2-40B4-BE49-F238E27FC236}">
                <a16:creationId xmlns:a16="http://schemas.microsoft.com/office/drawing/2014/main" id="{2FAB7036-D7E4-9694-9091-DE7B038AA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Slide Number Placeholder 6">
            <a:extLst>
              <a:ext uri="{FF2B5EF4-FFF2-40B4-BE49-F238E27FC236}">
                <a16:creationId xmlns:a16="http://schemas.microsoft.com/office/drawing/2014/main" id="{4A2185AC-2990-D3E5-4B1F-FD56F878E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65A5C87-DF58-40C8-B092-1DE63DB4547E}" type="slidenum">
              <a:rPr lang="en-US" dirty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490861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ccentBoxVTI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AccentBox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F4FE582F-5DDE-4E50-A331-B77FB79D7361}" vid="{42624B42-66F4-4B9A-A3DB-EB561F16279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0D3D3287B53BE4A8DDB7A53C92E8C0F" ma:contentTypeVersion="3" ma:contentTypeDescription="Create a new document." ma:contentTypeScope="" ma:versionID="0f8012cf442070520ad095bdf87a3154">
  <xsd:schema xmlns:xsd="http://www.w3.org/2001/XMLSchema" xmlns:xs="http://www.w3.org/2001/XMLSchema" xmlns:p="http://schemas.microsoft.com/office/2006/metadata/properties" xmlns:ns2="c388af31-3163-41c0-b21b-70bfa312547d" targetNamespace="http://schemas.microsoft.com/office/2006/metadata/properties" ma:root="true" ma:fieldsID="567d6d6170f1e646cb2e8447a386c2ae" ns2:_="">
    <xsd:import namespace="c388af31-3163-41c0-b21b-70bfa31254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388af31-3163-41c0-b21b-70bfa312547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366CACD-DBA6-4E5D-94EC-BD06363C225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B0E3C0C-8B89-44D0-A6DC-545B504C73BA}">
  <ds:schemaRefs>
    <ds:schemaRef ds:uri="c388af31-3163-41c0-b21b-70bfa312547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6BB5969-75E6-4964-8440-628315B5D2DC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AccentBoxVTI</vt:lpstr>
      <vt:lpstr>Assessment 1: Part C</vt:lpstr>
      <vt:lpstr>Equifax Data Breach – 2017</vt:lpstr>
      <vt:lpstr>The Attack Overview of Equifax 2017</vt:lpstr>
      <vt:lpstr>Human Risk: Technology Risk</vt:lpstr>
      <vt:lpstr>AI-Driven Multi-Layered Defense Strategy</vt:lpstr>
      <vt:lpstr>Equifax Breach – Post-Incident &amp; Ethical Response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Umair Ahmed</dc:creator>
  <cp:revision>20</cp:revision>
  <dcterms:created xsi:type="dcterms:W3CDTF">2025-09-08T09:17:22Z</dcterms:created>
  <dcterms:modified xsi:type="dcterms:W3CDTF">2025-09-08T09:46:30Z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0x01010020D3D3287B53BE4A8DDB7A53C92E8C0F</vt:lpwstr>
  </property>
</Properties>
</file>