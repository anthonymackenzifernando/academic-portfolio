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itchFamily="2" charset="77"/>
      <p:regular r:id="rId13"/>
      <p:bold r:id="rId14"/>
      <p:italic r:id="rId15"/>
      <p:boldItalic r:id="rId16"/>
    </p:embeddedFont>
    <p:embeddedFont>
      <p:font typeface="Poppins Bold" pitchFamily="2" charset="77"/>
      <p:regular r:id="rId17"/>
      <p:bold r:id="rId18"/>
    </p:embeddedFont>
    <p:embeddedFont>
      <p:font typeface="Zen Dots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2661" autoAdjust="0"/>
  </p:normalViewPr>
  <p:slideViewPr>
    <p:cSldViewPr>
      <p:cViewPr>
        <p:scale>
          <a:sx n="60" d="100"/>
          <a:sy n="60" d="100"/>
        </p:scale>
        <p:origin x="1304" y="7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7D38B-F4CD-F242-8EED-545869E14822}" type="datetimeFigureOut">
              <a:rPr lang="en-US" smtClean="0"/>
              <a:t>6/15/25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E3416-4D53-514D-BCC4-D18E9EC7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45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69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93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9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88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4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96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E3416-4D53-514D-BCC4-D18E9EC75D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2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sv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sv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jpe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8.svg"/><Relationship Id="rId11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5.sv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7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096" r="-14096" b="-5183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7" y="8792"/>
            <a:ext cx="18309578" cy="11051922"/>
            <a:chOff x="0" y="-201461"/>
            <a:chExt cx="4822276" cy="2910794"/>
          </a:xfrm>
        </p:grpSpPr>
        <p:sp>
          <p:nvSpPr>
            <p:cNvPr id="4" name="Freeform 4"/>
            <p:cNvSpPr/>
            <p:nvPr/>
          </p:nvSpPr>
          <p:spPr>
            <a:xfrm>
              <a:off x="5684" y="-201461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19687" y="3048924"/>
            <a:ext cx="14091751" cy="362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sz="4800" dirty="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COMPARISON AND OPTIMIZATION OF COLLABORATIVE FILTERING METHODS FOR RECOMMENDER SYSTEMS</a:t>
            </a:r>
          </a:p>
          <a:p>
            <a:pPr algn="l">
              <a:lnSpc>
                <a:spcPts val="5633"/>
              </a:lnSpc>
            </a:pPr>
            <a:endParaRPr lang="en-US" sz="6057" dirty="0">
              <a:solidFill>
                <a:srgbClr val="FFFFFF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6344" y="733665"/>
            <a:ext cx="158919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97802" y="8587169"/>
            <a:ext cx="13786273" cy="1788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101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 – Anthony Mackenzi</a:t>
            </a:r>
            <a:b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ID : S4129857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pic>
        <p:nvPicPr>
          <p:cNvPr id="19" name="Audio Recording Jun 15, 2025 at 2:21:27 PM">
            <a:hlinkClick r:id="" action="ppaction://media"/>
            <a:extLst>
              <a:ext uri="{FF2B5EF4-FFF2-40B4-BE49-F238E27FC236}">
                <a16:creationId xmlns:a16="http://schemas.microsoft.com/office/drawing/2014/main" id="{15FC7985-4012-BB9E-2E38-D61BD711CE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06886" y="7235176"/>
            <a:ext cx="1512513" cy="1512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78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44363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93774" y="2856807"/>
            <a:ext cx="3086100" cy="5446038"/>
            <a:chOff x="0" y="0"/>
            <a:chExt cx="812800" cy="14343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434347"/>
            </a:xfrm>
            <a:custGeom>
              <a:avLst/>
              <a:gdLst/>
              <a:ahLst/>
              <a:cxnLst/>
              <a:rect l="l" t="t" r="r" b="b"/>
              <a:pathLst>
                <a:path w="812800" h="1434347">
                  <a:moveTo>
                    <a:pt x="0" y="0"/>
                  </a:moveTo>
                  <a:lnTo>
                    <a:pt x="812800" y="0"/>
                  </a:lnTo>
                  <a:lnTo>
                    <a:pt x="812800" y="1434347"/>
                  </a:lnTo>
                  <a:lnTo>
                    <a:pt x="0" y="1434347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1491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2351" y="2392921"/>
            <a:ext cx="5023431" cy="5909924"/>
            <a:chOff x="0" y="0"/>
            <a:chExt cx="778261" cy="9156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8261" cy="915602"/>
            </a:xfrm>
            <a:custGeom>
              <a:avLst/>
              <a:gdLst/>
              <a:ahLst/>
              <a:cxnLst/>
              <a:rect l="l" t="t" r="r" b="b"/>
              <a:pathLst>
                <a:path w="778261" h="915602">
                  <a:moveTo>
                    <a:pt x="0" y="0"/>
                  </a:moveTo>
                  <a:lnTo>
                    <a:pt x="778261" y="0"/>
                  </a:lnTo>
                  <a:lnTo>
                    <a:pt x="778261" y="915602"/>
                  </a:lnTo>
                  <a:lnTo>
                    <a:pt x="0" y="915602"/>
                  </a:lnTo>
                  <a:close/>
                </a:path>
              </a:pathLst>
            </a:custGeom>
            <a:blipFill>
              <a:blip r:embed="rId5"/>
              <a:stretch>
                <a:fillRect l="-66191" r="-102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 rot="8831280">
            <a:off x="996180" y="855903"/>
            <a:ext cx="4001809" cy="4001809"/>
          </a:xfrm>
          <a:custGeom>
            <a:avLst/>
            <a:gdLst/>
            <a:ahLst/>
            <a:cxnLst/>
            <a:rect l="l" t="t" r="r" b="b"/>
            <a:pathLst>
              <a:path w="4001809" h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8284169" y="2800423"/>
            <a:ext cx="818889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INTRODUCTION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886788">
            <a:off x="14599334" y="5680670"/>
            <a:ext cx="3159418" cy="2918386"/>
          </a:xfrm>
          <a:custGeom>
            <a:avLst/>
            <a:gdLst/>
            <a:ahLst/>
            <a:cxnLst/>
            <a:rect l="l" t="t" r="r" b="b"/>
            <a:pathLst>
              <a:path w="4464076" h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4624599" y="707935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8721" y="710148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6344" y="710148"/>
            <a:ext cx="158919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29929" y="707935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62422" y="712045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52164" y="4459328"/>
            <a:ext cx="10452908" cy="2145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9"/>
              </a:lnSpc>
              <a:spcBef>
                <a:spcPct val="0"/>
              </a:spcBef>
            </a:pPr>
            <a:r>
              <a:rPr lang="en-US" sz="3013" spc="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Brief overview of recommender systems</a:t>
            </a:r>
          </a:p>
          <a:p>
            <a:pPr algn="ctr">
              <a:lnSpc>
                <a:spcPts val="4219"/>
              </a:lnSpc>
              <a:spcBef>
                <a:spcPct val="0"/>
              </a:spcBef>
            </a:pPr>
            <a:r>
              <a:rPr lang="en-US" sz="3013" spc="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Goal: Predict user ratings for items</a:t>
            </a:r>
          </a:p>
          <a:p>
            <a:pPr algn="ctr">
              <a:lnSpc>
                <a:spcPts val="4219"/>
              </a:lnSpc>
              <a:spcBef>
                <a:spcPct val="0"/>
              </a:spcBef>
            </a:pPr>
            <a:r>
              <a:rPr lang="en-US" sz="3013" spc="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 on five methods: User Average, Item Average, User-KNN, Item-KNN, Hybrid User+Item KNN</a:t>
            </a:r>
          </a:p>
        </p:txBody>
      </p:sp>
      <p:pic>
        <p:nvPicPr>
          <p:cNvPr id="21" name="Audio Recording Jun 15, 2025 at 2:22:28 PM">
            <a:hlinkClick r:id="" action="ppaction://media"/>
            <a:extLst>
              <a:ext uri="{FF2B5EF4-FFF2-40B4-BE49-F238E27FC236}">
                <a16:creationId xmlns:a16="http://schemas.microsoft.com/office/drawing/2014/main" id="{092D1B7A-3527-EB0E-1FF5-511805AF48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6768" y="7398681"/>
            <a:ext cx="1389035" cy="138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74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703110" y="1621416"/>
            <a:ext cx="3086100" cy="5269946"/>
            <a:chOff x="0" y="0"/>
            <a:chExt cx="812800" cy="1387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387969"/>
            </a:xfrm>
            <a:custGeom>
              <a:avLst/>
              <a:gdLst/>
              <a:ahLst/>
              <a:cxnLst/>
              <a:rect l="l" t="t" r="r" b="b"/>
              <a:pathLst>
                <a:path w="812800" h="1387969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51264" y="1736785"/>
            <a:ext cx="2389792" cy="4854515"/>
            <a:chOff x="0" y="0"/>
            <a:chExt cx="1074311" cy="8859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4311" cy="885997"/>
            </a:xfrm>
            <a:custGeom>
              <a:avLst/>
              <a:gdLst/>
              <a:ahLst/>
              <a:cxnLst/>
              <a:rect l="l" t="t" r="r" b="b"/>
              <a:pathLst>
                <a:path w="1074311" h="885997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5"/>
              <a:stretch>
                <a:fillRect l="-15976" r="-159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7579" y="115185"/>
            <a:ext cx="4335517" cy="4114800"/>
          </a:xfrm>
          <a:custGeom>
            <a:avLst/>
            <a:gdLst/>
            <a:ahLst/>
            <a:cxnLst/>
            <a:rect l="l" t="t" r="r" b="b"/>
            <a:pathLst>
              <a:path w="4335517" h="4114800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4611526"/>
            <a:ext cx="13027634" cy="4559672"/>
          </a:xfrm>
          <a:custGeom>
            <a:avLst/>
            <a:gdLst/>
            <a:ahLst/>
            <a:cxnLst/>
            <a:rect l="l" t="t" r="r" b="b"/>
            <a:pathLst>
              <a:path w="13027634" h="4559672">
                <a:moveTo>
                  <a:pt x="0" y="0"/>
                </a:moveTo>
                <a:lnTo>
                  <a:pt x="13027634" y="0"/>
                </a:lnTo>
                <a:lnTo>
                  <a:pt x="13027634" y="4559672"/>
                </a:lnTo>
                <a:lnTo>
                  <a:pt x="0" y="45596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96344" y="733665"/>
            <a:ext cx="1589190" cy="72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 Summaries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0598" y="3249670"/>
            <a:ext cx="8188898" cy="13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METHOD SUMMARIES</a:t>
            </a:r>
          </a:p>
        </p:txBody>
      </p:sp>
      <p:pic>
        <p:nvPicPr>
          <p:cNvPr id="19" name="Audio Recording Jun 15, 2025 at 2:24:20 PM">
            <a:hlinkClick r:id="" action="ppaction://media"/>
            <a:extLst>
              <a:ext uri="{FF2B5EF4-FFF2-40B4-BE49-F238E27FC236}">
                <a16:creationId xmlns:a16="http://schemas.microsoft.com/office/drawing/2014/main" id="{76B3B8C2-FF96-E88A-AD7A-0B97531D63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172802" y="2060392"/>
            <a:ext cx="1589190" cy="1589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7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6879" y="660390"/>
            <a:ext cx="2173049" cy="10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Optimization of Methods 3, 4, and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815206" y="2402329"/>
            <a:ext cx="6145566" cy="5832701"/>
          </a:xfrm>
          <a:custGeom>
            <a:avLst/>
            <a:gdLst/>
            <a:ahLst/>
            <a:cxnLst/>
            <a:rect l="l" t="t" r="r" b="b"/>
            <a:pathLst>
              <a:path w="6145566" h="5832701">
                <a:moveTo>
                  <a:pt x="0" y="0"/>
                </a:moveTo>
                <a:lnTo>
                  <a:pt x="6145567" y="0"/>
                </a:lnTo>
                <a:lnTo>
                  <a:pt x="6145567" y="5832701"/>
                </a:lnTo>
                <a:lnTo>
                  <a:pt x="0" y="5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736149" y="3195369"/>
            <a:ext cx="9793779" cy="13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OPTIMIZATION OF METHODS 3, 4, AND 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6149" y="4865778"/>
            <a:ext cx="15447563" cy="465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3700" lvl="1" indent="-371850" algn="just">
              <a:lnSpc>
                <a:spcPts val="4581"/>
              </a:lnSpc>
              <a:buFont typeface="Arial"/>
              <a:buChar char="•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User-KNN &amp; Item-KNN:</a:t>
            </a:r>
          </a:p>
          <a:p>
            <a:pPr marL="743700" lvl="1" indent="-371850" algn="just">
              <a:lnSpc>
                <a:spcPts val="4581"/>
              </a:lnSpc>
              <a:buFont typeface="Arial"/>
              <a:buChar char="•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Cosine similarity used for similarity computation</a:t>
            </a:r>
          </a:p>
          <a:p>
            <a:pPr marL="743700" lvl="1" indent="-371850" algn="just">
              <a:lnSpc>
                <a:spcPts val="4581"/>
              </a:lnSpc>
              <a:buFont typeface="Arial"/>
              <a:buChar char="•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Considered top-k neighbors (k=5)</a:t>
            </a:r>
          </a:p>
          <a:p>
            <a:pPr marL="743700" lvl="1" indent="-371850" algn="just">
              <a:lnSpc>
                <a:spcPts val="4581"/>
              </a:lnSpc>
              <a:buFont typeface="Arial"/>
              <a:buChar char="•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Fallback to user/item averages when neighbors unavailable</a:t>
            </a:r>
          </a:p>
          <a:p>
            <a:pPr marL="743700" lvl="1" indent="-371850" algn="just">
              <a:lnSpc>
                <a:spcPts val="4581"/>
              </a:lnSpc>
              <a:buFont typeface="Arial"/>
              <a:buChar char="•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Hybrid method:</a:t>
            </a:r>
          </a:p>
          <a:p>
            <a:pPr marL="743700" lvl="1" indent="-371850" algn="just">
              <a:lnSpc>
                <a:spcPts val="4581"/>
              </a:lnSpc>
              <a:buAutoNum type="arabicPeriod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Tuned lambda (0.5) to balance user- and item-based predictions</a:t>
            </a:r>
          </a:p>
          <a:p>
            <a:pPr marL="743700" lvl="1" indent="-371850" algn="just">
              <a:lnSpc>
                <a:spcPts val="4581"/>
              </a:lnSpc>
              <a:buAutoNum type="arabicPeriod"/>
            </a:pPr>
            <a:r>
              <a:rPr lang="en-US" sz="3444" spc="-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Combined strengths of both methods</a:t>
            </a:r>
          </a:p>
          <a:p>
            <a:pPr algn="just">
              <a:lnSpc>
                <a:spcPts val="4581"/>
              </a:lnSpc>
            </a:pPr>
            <a:endParaRPr lang="en-US" sz="3444" spc="-9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Audio Recording Jun 15, 2025 at 2:25:26 PM">
            <a:hlinkClick r:id="" action="ppaction://media"/>
            <a:extLst>
              <a:ext uri="{FF2B5EF4-FFF2-40B4-BE49-F238E27FC236}">
                <a16:creationId xmlns:a16="http://schemas.microsoft.com/office/drawing/2014/main" id="{8BE37304-ADB6-0FCA-88D3-F9D8C0E5AF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4987" y="845831"/>
            <a:ext cx="1556498" cy="1556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4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152889" y="5340593"/>
            <a:ext cx="10996840" cy="3133724"/>
          </a:xfrm>
          <a:custGeom>
            <a:avLst/>
            <a:gdLst/>
            <a:ahLst/>
            <a:cxnLst/>
            <a:rect l="l" t="t" r="r" b="b"/>
            <a:pathLst>
              <a:path w="11173280" h="4704539">
                <a:moveTo>
                  <a:pt x="0" y="0"/>
                </a:moveTo>
                <a:lnTo>
                  <a:pt x="11173280" y="0"/>
                </a:lnTo>
                <a:lnTo>
                  <a:pt x="11173280" y="4704539"/>
                </a:lnTo>
                <a:lnTo>
                  <a:pt x="0" y="4704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95804" y="454677"/>
            <a:ext cx="3056998" cy="109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Comparison (MAE &amp; RMSE)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9329" y="2019730"/>
            <a:ext cx="10401311" cy="284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2"/>
              </a:lnSpc>
            </a:pPr>
            <a:r>
              <a:rPr lang="en-US" sz="7852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PERFORMANCE COMPARISON (MAE &amp; RMSE)</a:t>
            </a:r>
          </a:p>
        </p:txBody>
      </p:sp>
      <p:pic>
        <p:nvPicPr>
          <p:cNvPr id="17" name="Audio Recording Jun 15, 2025 at 2:26:21 PM">
            <a:hlinkClick r:id="" action="ppaction://media"/>
            <a:extLst>
              <a:ext uri="{FF2B5EF4-FFF2-40B4-BE49-F238E27FC236}">
                <a16:creationId xmlns:a16="http://schemas.microsoft.com/office/drawing/2014/main" id="{B76E0A65-A252-F8E7-C8BC-874649DECD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07831" y="882522"/>
            <a:ext cx="1498728" cy="1498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16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895225" y="1483938"/>
            <a:ext cx="3317796" cy="3842010"/>
          </a:xfrm>
          <a:custGeom>
            <a:avLst/>
            <a:gdLst/>
            <a:ahLst/>
            <a:cxnLst/>
            <a:rect l="l" t="t" r="r" b="b"/>
            <a:pathLst>
              <a:path w="5919398" h="5704147">
                <a:moveTo>
                  <a:pt x="0" y="0"/>
                </a:moveTo>
                <a:lnTo>
                  <a:pt x="5919397" y="0"/>
                </a:lnTo>
                <a:lnTo>
                  <a:pt x="5919397" y="5704147"/>
                </a:lnTo>
                <a:lnTo>
                  <a:pt x="0" y="5704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6344" y="733665"/>
            <a:ext cx="1933585" cy="72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of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6149" y="2637937"/>
            <a:ext cx="7407851" cy="153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58"/>
              </a:lnSpc>
            </a:pPr>
            <a:r>
              <a:rPr lang="en-US" sz="629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ANALYSIS OF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9905" y="5486400"/>
            <a:ext cx="14403447" cy="341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424" lvl="1" indent="-312712" algn="just">
              <a:lnSpc>
                <a:spcPts val="3852"/>
              </a:lnSpc>
              <a:buFont typeface="Arial"/>
              <a:buChar char="•"/>
            </a:pPr>
            <a:r>
              <a:rPr lang="en-US" sz="2896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Item Average best baseline performance: reflects consistent item popularity</a:t>
            </a:r>
          </a:p>
          <a:p>
            <a:pPr marL="625424" lvl="1" indent="-312712" algn="just">
              <a:lnSpc>
                <a:spcPts val="3852"/>
              </a:lnSpc>
              <a:buFont typeface="Arial"/>
              <a:buChar char="•"/>
            </a:pPr>
            <a:r>
              <a:rPr lang="en-US" sz="2896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User-KNN struggles possibly due to sparse user ratings or similarity noise</a:t>
            </a:r>
          </a:p>
          <a:p>
            <a:pPr marL="625424" lvl="1" indent="-312712" algn="just">
              <a:lnSpc>
                <a:spcPts val="3852"/>
              </a:lnSpc>
              <a:buFont typeface="Arial"/>
              <a:buChar char="•"/>
            </a:pPr>
            <a:r>
              <a:rPr lang="en-US" sz="2896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Item-KNN least effective likely due to diverse item rating patterns</a:t>
            </a:r>
          </a:p>
          <a:p>
            <a:pPr marL="625424" lvl="1" indent="-312712" algn="just">
              <a:lnSpc>
                <a:spcPts val="3852"/>
              </a:lnSpc>
              <a:buFont typeface="Arial"/>
              <a:buChar char="•"/>
            </a:pPr>
            <a:r>
              <a:rPr lang="en-US" sz="2896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Hybrid balances user preferences and item characteristics, improving robustness</a:t>
            </a:r>
          </a:p>
          <a:p>
            <a:pPr marL="625424" lvl="1" indent="-312712" algn="just">
              <a:lnSpc>
                <a:spcPts val="3852"/>
              </a:lnSpc>
              <a:buFont typeface="Arial"/>
              <a:buChar char="•"/>
            </a:pPr>
            <a:r>
              <a:rPr lang="en-US" sz="2896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Cold-start issues partially mitigated by fallback averages</a:t>
            </a:r>
          </a:p>
          <a:p>
            <a:pPr algn="just">
              <a:lnSpc>
                <a:spcPts val="3852"/>
              </a:lnSpc>
            </a:pPr>
            <a:endParaRPr lang="en-US" sz="2896" spc="-8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Audio Recording Jun 15, 2025 at 2:27:44 PM">
            <a:hlinkClick r:id="" action="ppaction://media"/>
            <a:extLst>
              <a:ext uri="{FF2B5EF4-FFF2-40B4-BE49-F238E27FC236}">
                <a16:creationId xmlns:a16="http://schemas.microsoft.com/office/drawing/2014/main" id="{C6789335-81BB-7D99-F52A-5E6329B6E9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11955" y="430963"/>
            <a:ext cx="1606898" cy="1606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38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11052" y="3019148"/>
            <a:ext cx="4522428" cy="5181900"/>
            <a:chOff x="0" y="0"/>
            <a:chExt cx="1191092" cy="13647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1092" cy="1364780"/>
            </a:xfrm>
            <a:custGeom>
              <a:avLst/>
              <a:gdLst/>
              <a:ahLst/>
              <a:cxnLst/>
              <a:rect l="l" t="t" r="r" b="b"/>
              <a:pathLst>
                <a:path w="1191092" h="1364780">
                  <a:moveTo>
                    <a:pt x="0" y="0"/>
                  </a:moveTo>
                  <a:lnTo>
                    <a:pt x="1191092" y="0"/>
                  </a:lnTo>
                  <a:lnTo>
                    <a:pt x="1191092" y="1364780"/>
                  </a:lnTo>
                  <a:lnTo>
                    <a:pt x="0" y="1364780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91092" cy="1421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1081" y="2939227"/>
            <a:ext cx="4522429" cy="5261821"/>
            <a:chOff x="0" y="0"/>
            <a:chExt cx="1140478" cy="871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0478" cy="871194"/>
            </a:xfrm>
            <a:custGeom>
              <a:avLst/>
              <a:gdLst/>
              <a:ahLst/>
              <a:cxnLst/>
              <a:rect l="l" t="t" r="r" b="b"/>
              <a:pathLst>
                <a:path w="1140478" h="871194">
                  <a:moveTo>
                    <a:pt x="0" y="0"/>
                  </a:moveTo>
                  <a:lnTo>
                    <a:pt x="1140478" y="0"/>
                  </a:lnTo>
                  <a:lnTo>
                    <a:pt x="1140478" y="871194"/>
                  </a:lnTo>
                  <a:lnTo>
                    <a:pt x="0" y="871194"/>
                  </a:lnTo>
                  <a:close/>
                </a:path>
              </a:pathLst>
            </a:custGeom>
            <a:blipFill>
              <a:blip r:embed="rId5"/>
              <a:stretch>
                <a:fillRect l="-17900" r="-179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842262" y="2720635"/>
            <a:ext cx="9590519" cy="1404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45"/>
              </a:lnSpc>
            </a:pPr>
            <a:r>
              <a:rPr lang="en-US" sz="5747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SOME METHODS ARE BETTER</a:t>
            </a:r>
          </a:p>
        </p:txBody>
      </p:sp>
      <p:sp>
        <p:nvSpPr>
          <p:cNvPr id="13" name="Freeform 13"/>
          <p:cNvSpPr/>
          <p:nvPr/>
        </p:nvSpPr>
        <p:spPr>
          <a:xfrm rot="-3185288">
            <a:off x="1502109" y="330495"/>
            <a:ext cx="1677042" cy="2079420"/>
          </a:xfrm>
          <a:custGeom>
            <a:avLst/>
            <a:gdLst/>
            <a:ahLst/>
            <a:cxnLst/>
            <a:rect l="l" t="t" r="r" b="b"/>
            <a:pathLst>
              <a:path w="4630504" h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29077" y="635652"/>
            <a:ext cx="2200852" cy="72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Some Methods Are Better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4901" y="4411560"/>
            <a:ext cx="10486093" cy="384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945" lvl="1" indent="-346973" algn="just">
              <a:lnSpc>
                <a:spcPts val="4274"/>
              </a:lnSpc>
              <a:buFont typeface="Arial"/>
              <a:buChar char="•"/>
            </a:pPr>
            <a:r>
              <a:rPr lang="en-US" sz="3214" spc="-8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Simplicity vs. complexity trade-off</a:t>
            </a:r>
          </a:p>
          <a:p>
            <a:pPr marL="693945" lvl="1" indent="-346973" algn="just">
              <a:lnSpc>
                <a:spcPts val="4274"/>
              </a:lnSpc>
              <a:buFont typeface="Arial"/>
              <a:buChar char="•"/>
            </a:pPr>
            <a:r>
              <a:rPr lang="en-US" sz="3214" spc="-8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characteristics: sparsity and distribution</a:t>
            </a:r>
          </a:p>
          <a:p>
            <a:pPr marL="693945" lvl="1" indent="-346973" algn="just">
              <a:lnSpc>
                <a:spcPts val="4274"/>
              </a:lnSpc>
              <a:buFont typeface="Arial"/>
              <a:buChar char="•"/>
            </a:pPr>
            <a:r>
              <a:rPr lang="en-US" sz="3214" spc="-8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Importance of neighbor selection and similarity measure</a:t>
            </a:r>
          </a:p>
          <a:p>
            <a:pPr marL="693945" lvl="1" indent="-346973" algn="just">
              <a:lnSpc>
                <a:spcPts val="4274"/>
              </a:lnSpc>
              <a:buFont typeface="Arial"/>
              <a:buChar char="•"/>
            </a:pPr>
            <a:r>
              <a:rPr lang="en-US" sz="3214" spc="-8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Combination methods reduce individual weaknesses</a:t>
            </a:r>
          </a:p>
          <a:p>
            <a:pPr algn="just">
              <a:lnSpc>
                <a:spcPts val="4274"/>
              </a:lnSpc>
            </a:pPr>
            <a:endParaRPr lang="en-US" sz="3214" spc="-8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" name="Audio Recording Jun 15, 2025 at 2:28:58 PM">
            <a:hlinkClick r:id="" action="ppaction://media"/>
            <a:extLst>
              <a:ext uri="{FF2B5EF4-FFF2-40B4-BE49-F238E27FC236}">
                <a16:creationId xmlns:a16="http://schemas.microsoft.com/office/drawing/2014/main" id="{FB7057E0-EB77-4D56-D33F-A128622739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097000" y="7106807"/>
            <a:ext cx="2128444" cy="2128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5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8182712">
            <a:off x="180680" y="298127"/>
            <a:ext cx="10210559" cy="9690748"/>
          </a:xfrm>
          <a:custGeom>
            <a:avLst/>
            <a:gdLst/>
            <a:ahLst/>
            <a:cxnLst/>
            <a:rect l="l" t="t" r="r" b="b"/>
            <a:pathLst>
              <a:path w="10210559" h="9690748">
                <a:moveTo>
                  <a:pt x="0" y="0"/>
                </a:moveTo>
                <a:lnTo>
                  <a:pt x="10210558" y="0"/>
                </a:lnTo>
                <a:lnTo>
                  <a:pt x="10210558" y="9690749"/>
                </a:lnTo>
                <a:lnTo>
                  <a:pt x="0" y="9690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194623" y="3045555"/>
            <a:ext cx="2985565" cy="4924127"/>
            <a:chOff x="0" y="0"/>
            <a:chExt cx="786322" cy="1296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6322" cy="1296889"/>
            </a:xfrm>
            <a:custGeom>
              <a:avLst/>
              <a:gdLst/>
              <a:ahLst/>
              <a:cxnLst/>
              <a:rect l="l" t="t" r="r" b="b"/>
              <a:pathLst>
                <a:path w="786322" h="1296889">
                  <a:moveTo>
                    <a:pt x="0" y="0"/>
                  </a:moveTo>
                  <a:lnTo>
                    <a:pt x="786322" y="0"/>
                  </a:lnTo>
                  <a:lnTo>
                    <a:pt x="786322" y="1296889"/>
                  </a:lnTo>
                  <a:lnTo>
                    <a:pt x="0" y="1296889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786322" cy="1354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33746" y="3270677"/>
            <a:ext cx="2589276" cy="4504931"/>
            <a:chOff x="0" y="0"/>
            <a:chExt cx="676533" cy="8430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6533" cy="843091"/>
            </a:xfrm>
            <a:custGeom>
              <a:avLst/>
              <a:gdLst/>
              <a:ahLst/>
              <a:cxnLst/>
              <a:rect l="l" t="t" r="r" b="b"/>
              <a:pathLst>
                <a:path w="676533" h="843091">
                  <a:moveTo>
                    <a:pt x="0" y="0"/>
                  </a:moveTo>
                  <a:lnTo>
                    <a:pt x="676533" y="0"/>
                  </a:lnTo>
                  <a:lnTo>
                    <a:pt x="676533" y="843091"/>
                  </a:lnTo>
                  <a:lnTo>
                    <a:pt x="0" y="843091"/>
                  </a:lnTo>
                  <a:close/>
                </a:path>
              </a:pathLst>
            </a:custGeom>
            <a:blipFill>
              <a:blip r:embed="rId7"/>
              <a:stretch>
                <a:fillRect l="-42999" r="-429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18238" y="2838948"/>
            <a:ext cx="3044166" cy="4907283"/>
            <a:chOff x="0" y="0"/>
            <a:chExt cx="676533" cy="8278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6533" cy="827857"/>
            </a:xfrm>
            <a:custGeom>
              <a:avLst/>
              <a:gdLst/>
              <a:ahLst/>
              <a:cxnLst/>
              <a:rect l="l" t="t" r="r" b="b"/>
              <a:pathLst>
                <a:path w="676533" h="827857">
                  <a:moveTo>
                    <a:pt x="0" y="0"/>
                  </a:moveTo>
                  <a:lnTo>
                    <a:pt x="676533" y="0"/>
                  </a:lnTo>
                  <a:lnTo>
                    <a:pt x="676533" y="827857"/>
                  </a:lnTo>
                  <a:lnTo>
                    <a:pt x="0" y="827857"/>
                  </a:lnTo>
                  <a:close/>
                </a:path>
              </a:pathLst>
            </a:custGeom>
            <a:blipFill>
              <a:blip r:embed="rId8"/>
              <a:stretch>
                <a:fillRect l="-58771" r="-587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0" y="35975"/>
            <a:ext cx="1971380" cy="2344750"/>
          </a:xfrm>
          <a:custGeom>
            <a:avLst/>
            <a:gdLst/>
            <a:ahLst/>
            <a:cxnLst/>
            <a:rect l="l" t="t" r="r" b="b"/>
            <a:pathLst>
              <a:path w="4001809" h="4001809">
                <a:moveTo>
                  <a:pt x="0" y="0"/>
                </a:moveTo>
                <a:lnTo>
                  <a:pt x="4001810" y="0"/>
                </a:lnTo>
                <a:lnTo>
                  <a:pt x="4001810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91616" y="735562"/>
            <a:ext cx="2284260" cy="72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3202" y="3264759"/>
            <a:ext cx="8298046" cy="13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CONCLUSION AND FUTURE WORK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683" y="4935168"/>
            <a:ext cx="8832564" cy="283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359" lvl="1" indent="-301679" algn="just">
              <a:lnSpc>
                <a:spcPts val="3716"/>
              </a:lnSpc>
              <a:buFont typeface="Arial"/>
              <a:buChar char="•"/>
            </a:pPr>
            <a:r>
              <a:rPr lang="en-US" sz="2794" spc="-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Summary of findings: Item Average and Hybrid best performers</a:t>
            </a:r>
          </a:p>
          <a:p>
            <a:pPr marL="603359" lvl="1" indent="-301679" algn="just">
              <a:lnSpc>
                <a:spcPts val="3716"/>
              </a:lnSpc>
              <a:buFont typeface="Arial"/>
              <a:buChar char="•"/>
            </a:pPr>
            <a:r>
              <a:rPr lang="en-US" sz="2794" spc="-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Optimization helped stabilize KNN methods</a:t>
            </a:r>
          </a:p>
          <a:p>
            <a:pPr marL="603359" lvl="1" indent="-301679" algn="just">
              <a:lnSpc>
                <a:spcPts val="3716"/>
              </a:lnSpc>
              <a:buFont typeface="Arial"/>
              <a:buChar char="•"/>
            </a:pPr>
            <a:r>
              <a:rPr lang="en-US" sz="2794" spc="-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work: tuning lambda, exploring model-based methods, addressing cold-start better</a:t>
            </a:r>
          </a:p>
          <a:p>
            <a:pPr algn="just">
              <a:lnSpc>
                <a:spcPts val="3716"/>
              </a:lnSpc>
            </a:pPr>
            <a:endParaRPr lang="en-US" sz="2794" spc="-7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" name="Audio Recording Jun 15, 2025 at 2:30:12 PM">
            <a:hlinkClick r:id="" action="ppaction://media"/>
            <a:extLst>
              <a:ext uri="{FF2B5EF4-FFF2-40B4-BE49-F238E27FC236}">
                <a16:creationId xmlns:a16="http://schemas.microsoft.com/office/drawing/2014/main" id="{0F15BC52-3618-7836-54F0-E222B63DEA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90473" y="1049149"/>
            <a:ext cx="1675324" cy="1675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4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52344" y="66788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6344" y="733665"/>
            <a:ext cx="158919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4405" y="3203404"/>
            <a:ext cx="14079189" cy="104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8242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THANKYOU 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pic>
        <p:nvPicPr>
          <p:cNvPr id="17" name="Audio Recording Jun 15, 2025 at 2:30:55 PM">
            <a:hlinkClick r:id="" action="ppaction://media"/>
            <a:extLst>
              <a:ext uri="{FF2B5EF4-FFF2-40B4-BE49-F238E27FC236}">
                <a16:creationId xmlns:a16="http://schemas.microsoft.com/office/drawing/2014/main" id="{9CF1C4E8-8955-636D-5E0D-E2CEAB214C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35468" y="4737100"/>
            <a:ext cx="1614932" cy="1614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5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13352" y="667880"/>
            <a:ext cx="1919429" cy="566532"/>
            <a:chOff x="0" y="0"/>
            <a:chExt cx="505529" cy="149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202171" y="983713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624599" y="731452"/>
            <a:ext cx="166255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88721" y="733665"/>
            <a:ext cx="1907082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6344" y="733665"/>
            <a:ext cx="1589190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b="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29929" y="731452"/>
            <a:ext cx="2224975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62422" y="735562"/>
            <a:ext cx="14212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5968" y="1618643"/>
            <a:ext cx="14079189" cy="104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8242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REFERENCES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28202" y="9061735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840" y="2762289"/>
            <a:ext cx="16564315" cy="655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Ricci, F., Rokach, L., &amp; Shapira, B. (2011).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Introduction to Recommender Systems Handbook.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Springer.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doi.org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/10.1007/978-0-387-85820-3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comprehensive handbook explaining different recommendation techniques including collaborative filtering, content-based filtering, and hybrid approaches.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Resnick, P., 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Iacovou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N., Suchak, M., Bergstrom, P., &amp; Riedl, J. (1994).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GroupLens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An open architecture for collaborative filtering of 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netnews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Proceedings of the 1994 ACM conference on Computer supported cooperative work, pp. 175–186.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doi.org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/10.1145/192844.192905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paper introduced one of the earliest implementations of user-based collaborative filtering.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Sarwar, B., 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Karypis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G., 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Konstan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J., &amp; Riedl, J. (2001).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Item-based collaborative filtering recommendation algorithms.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Proceedings of the 10th International Conference on World Wide Web, pp. 285–295.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doi.org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/10.1145/371920.372071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foundational paper on item-based collaborative filtering and similarity computation.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Aggarwal, C. C. (2016).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Recommender Systems: The Textbook.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Springer.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</a:t>
            </a:r>
            <a:r>
              <a:rPr lang="en-US" sz="1769" spc="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doi.org</a:t>
            </a: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/10.1007/978-3-319-29659-3</a:t>
            </a:r>
          </a:p>
          <a:p>
            <a:pPr algn="l">
              <a:lnSpc>
                <a:spcPts val="2476"/>
              </a:lnSpc>
              <a:spcBef>
                <a:spcPct val="0"/>
              </a:spcBef>
            </a:pPr>
            <a:r>
              <a:rPr lang="en-US" sz="1769" spc="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textbook covering a wide range of recommender system models, from neighborhood-based to matrix factorization and hybrid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559</Words>
  <Application>Microsoft Macintosh PowerPoint</Application>
  <PresentationFormat>Custom</PresentationFormat>
  <Paragraphs>115</Paragraphs>
  <Slides>10</Slides>
  <Notes>9</Notes>
  <HiddenSlides>0</HiddenSlides>
  <MMClips>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Zen Dots</vt:lpstr>
      <vt:lpstr>Poppins</vt:lpstr>
      <vt:lpstr>Aptos</vt:lpstr>
      <vt:lpstr>Poppins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Anthony Mackenzi Fernando</cp:lastModifiedBy>
  <cp:revision>4</cp:revision>
  <dcterms:created xsi:type="dcterms:W3CDTF">2006-08-16T00:00:00Z</dcterms:created>
  <dcterms:modified xsi:type="dcterms:W3CDTF">2025-06-15T04:32:17Z</dcterms:modified>
  <dc:identifier>DAGp9xJwg6I</dc:identifier>
</cp:coreProperties>
</file>